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44e0495f554399" /><Relationship Type="http://schemas.openxmlformats.org/officeDocument/2006/relationships/extended-properties" Target="/docProps/app.xml" Id="R0fa6b66d958b499e" /><Relationship Type="http://schemas.openxmlformats.org/officeDocument/2006/relationships/officeDocument" Target="/ppt/presentation.xml" Id="R83cb4eddebf649bd" /></Relationships>
</file>

<file path=ppt/presentation.xml><?xml version="1.0" encoding="utf-8"?>
<p:presentation xmlns:p="http://schemas.openxmlformats.org/presentationml/2006/main">
  <p:sldMasterIdLst>
    <p:sldMasterId xmlns:r="http://schemas.openxmlformats.org/officeDocument/2006/relationships" id="2147483648" r:id="R8328fbde4e6041bb"/>
  </p:sldMasterIdLst>
  <p:notesMasterIdLst>
    <p:notesMasterId xmlns:r="http://schemas.openxmlformats.org/officeDocument/2006/relationships" r:id="R4cd7c7c21f0341a3"/>
  </p:notesMasterIdLst>
  <p:sldIdLst>
    <p:sldId xmlns:r="http://schemas.openxmlformats.org/officeDocument/2006/relationships" id="256" r:id="R5a7d60b64d6f4d33"/>
    <p:sldId xmlns:r="http://schemas.openxmlformats.org/officeDocument/2006/relationships" id="257" r:id="R3cc8ec0fd0d149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37019062b64971" /><Relationship Type="http://schemas.openxmlformats.org/officeDocument/2006/relationships/slideMaster" Target="/ppt/slideMasters/slideMaster1.xml" Id="R8328fbde4e6041bb" /><Relationship Type="http://schemas.openxmlformats.org/officeDocument/2006/relationships/notesMaster" Target="/ppt/notesMasters/notesMaster1.xml" Id="R4cd7c7c21f0341a3" /><Relationship Type="http://schemas.openxmlformats.org/officeDocument/2006/relationships/presProps" Target="/ppt/presProps.xml" Id="Raa3bb2e6c00d4911" /><Relationship Type="http://schemas.openxmlformats.org/officeDocument/2006/relationships/tableStyles" Target="/ppt/tableStyles.xml" Id="R329623cf184448e4" /><Relationship Type="http://schemas.openxmlformats.org/officeDocument/2006/relationships/slide" Target="/ppt/slides/slide1.xml" Id="R5a7d60b64d6f4d33" /><Relationship Type="http://schemas.openxmlformats.org/officeDocument/2006/relationships/slide" Target="/ppt/slides/slide2.xml" Id="R3cc8ec0fd0d149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b16dc1bb7642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ff35f160784a32" /><Relationship Type="http://schemas.openxmlformats.org/officeDocument/2006/relationships/notesMaster" Target="/ppt/notesMasters/notesMaster1.xml" Id="R64ee4bed1b1442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440092975843e7" /><Relationship Type="http://schemas.openxmlformats.org/officeDocument/2006/relationships/notesMaster" Target="/ppt/notesMasters/notesMaster1.xml" Id="R6b51dd1a708542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phases: represent telemetry, then investigate using tools. Microsoft Agent Framework Magentic coordinates one investigator. Models are permitted Featherless GLM models. The knowledge base contains summaries and relationships, not every raw telemetry sample. The investigator can inspect the KB, retrieve evidence, run restricted Prolog, save a provisional diagnosis, and finish with linked execution support. Prolog support is conditional on assumptions and does not independently prove causation. Source: repository README.md and REPORT.md; https://github.com/JonathanWMorris/mantis-grid-hackathon-2026-official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eval/comparison-300s/results.json and failure-details.json, frozen runtime a2e69d6ecabca792268f7580c2bf6bf7ae0e2a6e8b0cf627cdd587964f5efd51. Both cases are reused development cases, not holdout. One repeat means variance is unavailable. Routed case 0 completed in 215.96 seconds and got the component correct but confused memory load with read I/O load, earning half credit. Case 1 completed in 77.61 seconds and received full credit on its requested scoring fields. Fixed case 0 executed 11 Prolog queries but three 25-second model-request timeouts exhausted retries; persistent unavailable-model state led case 1 to fallback almost immediately. Fixed cost/time therefore reflect early termination, not greater efficiency. Earlier 90-second experiments completed zero investigations; additional time is associated with improved completion, but this is not a controlled causal claim. Routed average runtime exceeds the roughly one-minute-per-case competition allowance. Successful Prolog execution does not guarantee correct causal diagnosis. https://github.com/JonathanWMorris/mantis-grid-hackathon-2026-official/blob/main/REPORT.md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66b612154148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67d89725a348ca" /><Relationship Type="http://schemas.openxmlformats.org/officeDocument/2006/relationships/slideLayout" Target="/ppt/slideLayouts/slideLayout1.xml" Id="R0f77ccd8b53a41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77ccd8b53a41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dc17f025c942b1" /><Relationship Type="http://schemas.openxmlformats.org/officeDocument/2006/relationships/notesSlide" Target="/ppt/notesSlides/notesSlide1.xml" Id="Rf1542d080ae847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80137797dd492b" /><Relationship Type="http://schemas.openxmlformats.org/officeDocument/2006/relationships/notesSlide" Target="/ppt/notesSlides/notesSlide2.xml" Id="R9fbb13616cb34bb0" /></Relationships>
</file>

<file path=ppt/slides/slide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1C20B47-3B04-430A-89E4-249C59C2C33A}"/>
              </a:ext>
            </a:extLst>
          </p:cNvPr>
          <p:cNvSpPr>
            <a:spLocks xmlns:a="http://schemas.openxmlformats.org/drawingml/2006/main" noGrp="1"/>
          </p:cNvSpPr>
          <p:nvPr/>
        </p:nvSpPr>
        <p:spPr>
          <a:xfrm xmlns:a="http://schemas.openxmlformats.org/drawingml/2006/main">
            <a:off x="609600" y="4381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32F3C"/>
                </a:solidFill>
                <a:latin typeface="Helvetica Neue"/>
                <a:ea typeface="Helvetica Neue"/>
                <a:cs typeface="Helvetica Neue"/>
              </a:defRPr>
            </a:pPr>
            <a:r>
              <a:rPr sz="3600" b="1">
                <a:solidFill>
                  <a:srgbClr val="132F3C"/>
                </a:solidFill>
                <a:latin typeface="Helvetica Neue"/>
                <a:ea typeface="Helvetica Neue"/>
                <a:cs typeface="Helvetica Neue"/>
              </a:rPr>
              <a:t>Magentic RCA architecture</a:t>
            </a:r>
          </a:p>
        </p:txBody>
      </p:sp>
      <p:sp>
        <p:nvSpPr>
          <p:cNvPr id="2" name="">
            <a:extLst xmlns:a="http://schemas.openxmlformats.org/drawingml/2006/main">
              <a:ext uri="{FF2B5EF4-FFF2-40B4-BE49-F238E27FC236}">
                <a16:creationId xmlns:a16="http://schemas.microsoft.com/office/drawing/2014/main" id="{970C9A3E-F57A-4E3F-9BCB-164FCF1EB92E}"/>
              </a:ext>
            </a:extLst>
          </p:cNvPr>
          <p:cNvSpPr>
            <a:spLocks xmlns:a="http://schemas.openxmlformats.org/drawingml/2006/main" noGrp="1"/>
          </p:cNvSpPr>
          <p:nvPr/>
        </p:nvSpPr>
        <p:spPr>
          <a:xfrm xmlns:a="http://schemas.openxmlformats.org/drawingml/2006/main">
            <a:off x="609600" y="11334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36D"/>
                </a:solidFill>
                <a:latin typeface="Helvetica Neue"/>
                <a:ea typeface="Helvetica Neue"/>
                <a:cs typeface="Helvetica Neue"/>
              </a:defRPr>
            </a:pPr>
            <a:r>
              <a:rPr sz="2025" b="0">
                <a:solidFill>
                  <a:srgbClr val="53636D"/>
                </a:solidFill>
                <a:latin typeface="Helvetica Neue"/>
                <a:ea typeface="Helvetica Neue"/>
                <a:cs typeface="Helvetica Neue"/>
              </a:rPr>
              <a:t>Telemetry, an investigating agent, and executable evidence</a:t>
            </a:r>
          </a:p>
        </p:txBody>
      </p:sp>
      <p:sp>
        <p:nvSpPr>
          <p:cNvPr id="3" name="">
            <a:extLst xmlns:a="http://schemas.openxmlformats.org/drawingml/2006/main">
              <a:ext uri="{FF2B5EF4-FFF2-40B4-BE49-F238E27FC236}">
                <a16:creationId xmlns:a16="http://schemas.microsoft.com/office/drawing/2014/main" id="{B8A7A04A-AFBC-4C40-A802-16EE816C313F}"/>
              </a:ext>
            </a:extLst>
          </p:cNvPr>
          <p:cNvSpPr>
            <a:spLocks xmlns:a="http://schemas.openxmlformats.org/drawingml/2006/main" noGrp="1"/>
          </p:cNvSpPr>
          <p:nvPr/>
        </p:nvSpPr>
        <p:spPr>
          <a:xfrm xmlns:a="http://schemas.openxmlformats.org/drawingml/2006/main">
            <a:off x="609600" y="2171700"/>
            <a:ext cx="262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78"/>
                </a:solidFill>
                <a:latin typeface="Helvetica Neue"/>
                <a:ea typeface="Helvetica Neue"/>
                <a:cs typeface="Helvetica Neue"/>
              </a:defRPr>
            </a:pPr>
            <a:r>
              <a:rPr sz="2175" b="1">
                <a:solidFill>
                  <a:srgbClr val="087F78"/>
                </a:solidFill>
                <a:latin typeface="Helvetica Neue"/>
                <a:ea typeface="Helvetica Neue"/>
                <a:cs typeface="Helvetica Neue"/>
              </a:rPr>
              <a:t>01  Telemetry</a:t>
            </a:r>
          </a:p>
        </p:txBody>
      </p:sp>
      <p:sp>
        <p:nvSpPr>
          <p:cNvPr id="4" name="">
            <a:extLst xmlns:a="http://schemas.openxmlformats.org/drawingml/2006/main">
              <a:ext uri="{FF2B5EF4-FFF2-40B4-BE49-F238E27FC236}">
                <a16:creationId xmlns:a16="http://schemas.microsoft.com/office/drawing/2014/main" id="{7E9A2614-D37B-4429-A507-1F4D10647A34}"/>
              </a:ext>
            </a:extLst>
          </p:cNvPr>
          <p:cNvSpPr>
            <a:spLocks xmlns:a="http://schemas.openxmlformats.org/drawingml/2006/main" noGrp="1"/>
          </p:cNvSpPr>
          <p:nvPr/>
        </p:nvSpPr>
        <p:spPr>
          <a:xfrm xmlns:a="http://schemas.openxmlformats.org/drawingml/2006/main">
            <a:off x="609600" y="2743200"/>
            <a:ext cx="257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32F3C"/>
                </a:solidFill>
                <a:latin typeface="Helvetica Neue"/>
                <a:ea typeface="Helvetica Neue"/>
                <a:cs typeface="Helvetica Neue"/>
              </a:defRPr>
            </a:pPr>
            <a:r>
              <a:rPr sz="2325" b="1">
                <a:solidFill>
                  <a:srgbClr val="132F3C"/>
                </a:solidFill>
                <a:latin typeface="Helvetica Neue"/>
                <a:ea typeface="Helvetica Neue"/>
                <a:cs typeface="Helvetica Neue"/>
              </a:rPr>
              <a:t>Metrics • logs • traces</a:t>
            </a:r>
          </a:p>
        </p:txBody>
      </p:sp>
      <p:sp>
        <p:nvSpPr>
          <p:cNvPr id="5" name="">
            <a:extLst xmlns:a="http://schemas.openxmlformats.org/drawingml/2006/main">
              <a:ext uri="{FF2B5EF4-FFF2-40B4-BE49-F238E27FC236}">
                <a16:creationId xmlns:a16="http://schemas.microsoft.com/office/drawing/2014/main" id="{9517936C-7C05-4D16-B5FA-3788B3B8804F}"/>
              </a:ext>
            </a:extLst>
          </p:cNvPr>
          <p:cNvSpPr>
            <a:spLocks xmlns:a="http://schemas.openxmlformats.org/drawingml/2006/main" noGrp="1"/>
          </p:cNvSpPr>
          <p:nvPr/>
        </p:nvSpPr>
        <p:spPr>
          <a:xfrm xmlns:a="http://schemas.openxmlformats.org/drawingml/2006/main">
            <a:off x="609600" y="3714750"/>
            <a:ext cx="25431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36D"/>
                </a:solidFill>
                <a:latin typeface="Helvetica Neue"/>
                <a:ea typeface="Helvetica Neue"/>
                <a:cs typeface="Helvetica Neue"/>
              </a:defRPr>
            </a:pPr>
            <a:r>
              <a:rPr sz="1875" b="0">
                <a:solidFill>
                  <a:srgbClr val="53636D"/>
                </a:solidFill>
                <a:latin typeface="Helvetica Neue"/>
                <a:ea typeface="Helvetica Neue"/>
                <a:cs typeface="Helvetica Neue"/>
              </a:rPr>
              <a:t>CSV data from the supplied incident dataset</a:t>
            </a:r>
          </a:p>
        </p:txBody>
      </p:sp>
      <p:sp>
        <p:nvSpPr>
          <p:cNvPr id="6" name="">
            <a:extLst xmlns:a="http://schemas.openxmlformats.org/drawingml/2006/main">
              <a:ext uri="{FF2B5EF4-FFF2-40B4-BE49-F238E27FC236}">
                <a16:creationId xmlns:a16="http://schemas.microsoft.com/office/drawing/2014/main" id="{8721FA8F-48A6-4370-8FEB-97663930BA22}"/>
              </a:ext>
            </a:extLst>
          </p:cNvPr>
          <p:cNvSpPr>
            <a:spLocks xmlns:a="http://schemas.openxmlformats.org/drawingml/2006/main" noGrp="1"/>
          </p:cNvSpPr>
          <p:nvPr/>
        </p:nvSpPr>
        <p:spPr>
          <a:xfrm xmlns:a="http://schemas.openxmlformats.org/drawingml/2006/main">
            <a:off x="3448050" y="2171700"/>
            <a:ext cx="262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78"/>
                </a:solidFill>
                <a:latin typeface="Helvetica Neue"/>
                <a:ea typeface="Helvetica Neue"/>
                <a:cs typeface="Helvetica Neue"/>
              </a:defRPr>
            </a:pPr>
            <a:r>
              <a:rPr sz="2175" b="1">
                <a:solidFill>
                  <a:srgbClr val="087F78"/>
                </a:solidFill>
                <a:latin typeface="Helvetica Neue"/>
                <a:ea typeface="Helvetica Neue"/>
                <a:cs typeface="Helvetica Neue"/>
              </a:rPr>
              <a:t>02  Preprocess</a:t>
            </a:r>
          </a:p>
        </p:txBody>
      </p:sp>
      <p:sp>
        <p:nvSpPr>
          <p:cNvPr id="7" name="">
            <a:extLst xmlns:a="http://schemas.openxmlformats.org/drawingml/2006/main">
              <a:ext uri="{FF2B5EF4-FFF2-40B4-BE49-F238E27FC236}">
                <a16:creationId xmlns:a16="http://schemas.microsoft.com/office/drawing/2014/main" id="{83205EA6-EED9-40B5-9EAD-B28C69E9EF65}"/>
              </a:ext>
            </a:extLst>
          </p:cNvPr>
          <p:cNvSpPr>
            <a:spLocks xmlns:a="http://schemas.openxmlformats.org/drawingml/2006/main" noGrp="1"/>
          </p:cNvSpPr>
          <p:nvPr/>
        </p:nvSpPr>
        <p:spPr>
          <a:xfrm xmlns:a="http://schemas.openxmlformats.org/drawingml/2006/main">
            <a:off x="3448050" y="2743200"/>
            <a:ext cx="257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32F3C"/>
                </a:solidFill>
                <a:latin typeface="Helvetica Neue"/>
                <a:ea typeface="Helvetica Neue"/>
                <a:cs typeface="Helvetica Neue"/>
              </a:defRPr>
            </a:pPr>
            <a:r>
              <a:rPr sz="2325" b="1">
                <a:solidFill>
                  <a:srgbClr val="132F3C"/>
                </a:solidFill>
                <a:latin typeface="Helvetica Neue"/>
                <a:ea typeface="Helvetica Neue"/>
                <a:cs typeface="Helvetica Neue"/>
              </a:rPr>
              <a:t>Summaries + Prolog KB</a:t>
            </a:r>
          </a:p>
        </p:txBody>
      </p:sp>
      <p:sp>
        <p:nvSpPr>
          <p:cNvPr id="8" name="">
            <a:extLst xmlns:a="http://schemas.openxmlformats.org/drawingml/2006/main">
              <a:ext uri="{FF2B5EF4-FFF2-40B4-BE49-F238E27FC236}">
                <a16:creationId xmlns:a16="http://schemas.microsoft.com/office/drawing/2014/main" id="{7C61A767-B42C-4E9F-9C34-3242645F33C9}"/>
              </a:ext>
            </a:extLst>
          </p:cNvPr>
          <p:cNvSpPr>
            <a:spLocks xmlns:a="http://schemas.openxmlformats.org/drawingml/2006/main" noGrp="1"/>
          </p:cNvSpPr>
          <p:nvPr/>
        </p:nvSpPr>
        <p:spPr>
          <a:xfrm xmlns:a="http://schemas.openxmlformats.org/drawingml/2006/main">
            <a:off x="3448050" y="3714750"/>
            <a:ext cx="25431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36D"/>
                </a:solidFill>
                <a:latin typeface="Helvetica Neue"/>
                <a:ea typeface="Helvetica Neue"/>
                <a:cs typeface="Helvetica Neue"/>
              </a:defRPr>
            </a:pPr>
            <a:r>
              <a:rPr sz="1875" b="0">
                <a:solidFill>
                  <a:srgbClr val="53636D"/>
                </a:solidFill>
                <a:latin typeface="Helvetica Neue"/>
                <a:ea typeface="Helvetica Neue"/>
                <a:cs typeface="Helvetica Neue"/>
              </a:rPr>
              <a:t>DuckDB / Parquet, Drain3 and source-linked observations</a:t>
            </a:r>
          </a:p>
        </p:txBody>
      </p:sp>
      <p:sp>
        <p:nvSpPr>
          <p:cNvPr id="9" name="">
            <a:extLst xmlns:a="http://schemas.openxmlformats.org/drawingml/2006/main">
              <a:ext uri="{FF2B5EF4-FFF2-40B4-BE49-F238E27FC236}">
                <a16:creationId xmlns:a16="http://schemas.microsoft.com/office/drawing/2014/main" id="{8DDC0F0F-96E7-432B-B38D-5F5796F7B0D0}"/>
              </a:ext>
            </a:extLst>
          </p:cNvPr>
          <p:cNvSpPr>
            <a:spLocks xmlns:a="http://schemas.openxmlformats.org/drawingml/2006/main" noGrp="1"/>
          </p:cNvSpPr>
          <p:nvPr/>
        </p:nvSpPr>
        <p:spPr>
          <a:xfrm xmlns:a="http://schemas.openxmlformats.org/drawingml/2006/main">
            <a:off x="6286500" y="2171700"/>
            <a:ext cx="262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78"/>
                </a:solidFill>
                <a:latin typeface="Helvetica Neue"/>
                <a:ea typeface="Helvetica Neue"/>
                <a:cs typeface="Helvetica Neue"/>
              </a:defRPr>
            </a:pPr>
            <a:r>
              <a:rPr sz="2175" b="1">
                <a:solidFill>
                  <a:srgbClr val="087F78"/>
                </a:solidFill>
                <a:latin typeface="Helvetica Neue"/>
                <a:ea typeface="Helvetica Neue"/>
                <a:cs typeface="Helvetica Neue"/>
              </a:rPr>
              <a:t>03  Investigation</a:t>
            </a:r>
          </a:p>
        </p:txBody>
      </p:sp>
      <p:sp>
        <p:nvSpPr>
          <p:cNvPr id="10" name="">
            <a:extLst xmlns:a="http://schemas.openxmlformats.org/drawingml/2006/main">
              <a:ext uri="{FF2B5EF4-FFF2-40B4-BE49-F238E27FC236}">
                <a16:creationId xmlns:a16="http://schemas.microsoft.com/office/drawing/2014/main" id="{89FED5C1-D47B-4896-A42B-BAE8DF15DE3E}"/>
              </a:ext>
            </a:extLst>
          </p:cNvPr>
          <p:cNvSpPr>
            <a:spLocks xmlns:a="http://schemas.openxmlformats.org/drawingml/2006/main" noGrp="1"/>
          </p:cNvSpPr>
          <p:nvPr/>
        </p:nvSpPr>
        <p:spPr>
          <a:xfrm xmlns:a="http://schemas.openxmlformats.org/drawingml/2006/main">
            <a:off x="6286500" y="2743200"/>
            <a:ext cx="257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32F3C"/>
                </a:solidFill>
                <a:latin typeface="Helvetica Neue"/>
                <a:ea typeface="Helvetica Neue"/>
                <a:cs typeface="Helvetica Neue"/>
              </a:defRPr>
            </a:pPr>
            <a:r>
              <a:rPr sz="2325" b="1">
                <a:solidFill>
                  <a:srgbClr val="132F3C"/>
                </a:solidFill>
                <a:latin typeface="Helvetica Neue"/>
                <a:ea typeface="Helvetica Neue"/>
                <a:cs typeface="Helvetica Neue"/>
              </a:rPr>
              <a:t>Magentic + tool calling</a:t>
            </a:r>
          </a:p>
        </p:txBody>
      </p:sp>
      <p:sp>
        <p:nvSpPr>
          <p:cNvPr id="11" name="">
            <a:extLst xmlns:a="http://schemas.openxmlformats.org/drawingml/2006/main">
              <a:ext uri="{FF2B5EF4-FFF2-40B4-BE49-F238E27FC236}">
                <a16:creationId xmlns:a16="http://schemas.microsoft.com/office/drawing/2014/main" id="{6F7EFDB9-ACE0-4877-9345-18B07309BAD0}"/>
              </a:ext>
            </a:extLst>
          </p:cNvPr>
          <p:cNvSpPr>
            <a:spLocks xmlns:a="http://schemas.openxmlformats.org/drawingml/2006/main" noGrp="1"/>
          </p:cNvSpPr>
          <p:nvPr/>
        </p:nvSpPr>
        <p:spPr>
          <a:xfrm xmlns:a="http://schemas.openxmlformats.org/drawingml/2006/main">
            <a:off x="6286500" y="3714750"/>
            <a:ext cx="25431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36D"/>
                </a:solidFill>
                <a:latin typeface="Helvetica Neue"/>
                <a:ea typeface="Helvetica Neue"/>
                <a:cs typeface="Helvetica Neue"/>
              </a:defRPr>
            </a:pPr>
            <a:r>
              <a:rPr sz="1875" b="0">
                <a:solidFill>
                  <a:srgbClr val="53636D"/>
                </a:solidFill>
                <a:latin typeface="Helvetica Neue"/>
                <a:ea typeface="Helvetica Neue"/>
                <a:cs typeface="Helvetica Neue"/>
              </a:rPr>
              <a:t>One investigator inspects evidence and tests hypotheses in Prolog</a:t>
            </a:r>
          </a:p>
        </p:txBody>
      </p:sp>
      <p:sp>
        <p:nvSpPr>
          <p:cNvPr id="12" name="">
            <a:extLst xmlns:a="http://schemas.openxmlformats.org/drawingml/2006/main">
              <a:ext uri="{FF2B5EF4-FFF2-40B4-BE49-F238E27FC236}">
                <a16:creationId xmlns:a16="http://schemas.microsoft.com/office/drawing/2014/main" id="{607C6F89-A077-4826-BA17-D82EBC66C137}"/>
              </a:ext>
            </a:extLst>
          </p:cNvPr>
          <p:cNvSpPr>
            <a:spLocks xmlns:a="http://schemas.openxmlformats.org/drawingml/2006/main" noGrp="1"/>
          </p:cNvSpPr>
          <p:nvPr/>
        </p:nvSpPr>
        <p:spPr>
          <a:xfrm xmlns:a="http://schemas.openxmlformats.org/drawingml/2006/main">
            <a:off x="9124950" y="2171700"/>
            <a:ext cx="262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78"/>
                </a:solidFill>
                <a:latin typeface="Helvetica Neue"/>
                <a:ea typeface="Helvetica Neue"/>
                <a:cs typeface="Helvetica Neue"/>
              </a:defRPr>
            </a:pPr>
            <a:r>
              <a:rPr sz="2175" b="1">
                <a:solidFill>
                  <a:srgbClr val="087F78"/>
                </a:solidFill>
                <a:latin typeface="Helvetica Neue"/>
                <a:ea typeface="Helvetica Neue"/>
                <a:cs typeface="Helvetica Neue"/>
              </a:rPr>
              <a:t>04  Response</a:t>
            </a:r>
          </a:p>
        </p:txBody>
      </p:sp>
      <p:sp>
        <p:nvSpPr>
          <p:cNvPr id="13" name="">
            <a:extLst xmlns:a="http://schemas.openxmlformats.org/drawingml/2006/main">
              <a:ext uri="{FF2B5EF4-FFF2-40B4-BE49-F238E27FC236}">
                <a16:creationId xmlns:a16="http://schemas.microsoft.com/office/drawing/2014/main" id="{54642042-D9A2-4DFC-AF72-8EE7A21FCDD5}"/>
              </a:ext>
            </a:extLst>
          </p:cNvPr>
          <p:cNvSpPr>
            <a:spLocks xmlns:a="http://schemas.openxmlformats.org/drawingml/2006/main" noGrp="1"/>
          </p:cNvSpPr>
          <p:nvPr/>
        </p:nvSpPr>
        <p:spPr>
          <a:xfrm xmlns:a="http://schemas.openxmlformats.org/drawingml/2006/main">
            <a:off x="9124950" y="2743200"/>
            <a:ext cx="257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32F3C"/>
                </a:solidFill>
                <a:latin typeface="Helvetica Neue"/>
                <a:ea typeface="Helvetica Neue"/>
                <a:cs typeface="Helvetica Neue"/>
              </a:defRPr>
            </a:pPr>
            <a:r>
              <a:rPr sz="2325" b="1">
                <a:solidFill>
                  <a:srgbClr val="132F3C"/>
                </a:solidFill>
                <a:latin typeface="Helvetica Neue"/>
                <a:ea typeface="Helvetica Neue"/>
                <a:cs typeface="Helvetica Neue"/>
              </a:rPr>
              <a:t>Diagnosis + evidence</a:t>
            </a:r>
          </a:p>
        </p:txBody>
      </p:sp>
      <p:sp>
        <p:nvSpPr>
          <p:cNvPr id="14" name="">
            <a:extLst xmlns:a="http://schemas.openxmlformats.org/drawingml/2006/main">
              <a:ext uri="{FF2B5EF4-FFF2-40B4-BE49-F238E27FC236}">
                <a16:creationId xmlns:a16="http://schemas.microsoft.com/office/drawing/2014/main" id="{1C6BE132-797F-4436-AFC3-40627C80AD79}"/>
              </a:ext>
            </a:extLst>
          </p:cNvPr>
          <p:cNvSpPr>
            <a:spLocks xmlns:a="http://schemas.openxmlformats.org/drawingml/2006/main" noGrp="1"/>
          </p:cNvSpPr>
          <p:nvPr/>
        </p:nvSpPr>
        <p:spPr>
          <a:xfrm xmlns:a="http://schemas.openxmlformats.org/drawingml/2006/main">
            <a:off x="9124950" y="3714750"/>
            <a:ext cx="25431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36D"/>
                </a:solidFill>
                <a:latin typeface="Helvetica Neue"/>
                <a:ea typeface="Helvetica Neue"/>
                <a:cs typeface="Helvetica Neue"/>
              </a:defRPr>
            </a:pPr>
            <a:r>
              <a:rPr sz="1875" b="0">
                <a:solidFill>
                  <a:srgbClr val="53636D"/>
                </a:solidFill>
                <a:latin typeface="Helvetica Neue"/>
                <a:ea typeface="Helvetica Neue"/>
                <a:cs typeface="Helvetica Neue"/>
              </a:rPr>
              <a:t>Accepted completion needs executed Prolog support; otherwise fallback</a:t>
            </a:r>
          </a:p>
        </p:txBody>
      </p:sp>
      <p:sp>
        <p:nvSpPr>
          <p:cNvPr id="15" name="">
            <a:extLst xmlns:a="http://schemas.openxmlformats.org/drawingml/2006/main">
              <a:ext uri="{FF2B5EF4-FFF2-40B4-BE49-F238E27FC236}">
                <a16:creationId xmlns:a16="http://schemas.microsoft.com/office/drawing/2014/main" id="{DAF77334-3D3B-48D5-9DF2-A38513D5EC08}"/>
              </a:ext>
            </a:extLst>
          </p:cNvPr>
          <p:cNvSpPr>
            <a:spLocks xmlns:a="http://schemas.openxmlformats.org/drawingml/2006/main" noGrp="1"/>
          </p:cNvSpPr>
          <p:nvPr/>
        </p:nvSpPr>
        <p:spPr>
          <a:xfrm xmlns:a="http://schemas.openxmlformats.org/drawingml/2006/main">
            <a:off x="609600" y="551497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2F3C"/>
                </a:solidFill>
                <a:latin typeface="Helvetica Neue"/>
                <a:ea typeface="Helvetica Neue"/>
                <a:cs typeface="Helvetica Neue"/>
              </a:defRPr>
            </a:pPr>
            <a:r>
              <a:rPr sz="2100" b="1">
                <a:solidFill>
                  <a:srgbClr val="132F3C"/>
                </a:solidFill>
                <a:latin typeface="Helvetica Neue"/>
                <a:ea typeface="Helvetica Neue"/>
                <a:cs typeface="Helvetica Neue"/>
              </a:rPr>
              <a:t>LLM proposes and investigates. Prolog checks consequences of the encoded assumptions.</a:t>
            </a:r>
          </a:p>
        </p:txBody>
      </p:sp>
    </p:spTree>
    <p:extLst>
      <p:ext uri="{BB962C8B-B14F-4D97-AF65-F5344CB8AC3E}">
        <p14:creationId xmlns:p14="http://schemas.microsoft.com/office/powerpoint/2010/main" val="976267283"/>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A4B627-24D8-44F2-8A8C-8720DAE9142F}"/>
              </a:ext>
            </a:extLst>
          </p:cNvPr>
          <p:cNvSpPr>
            <a:spLocks xmlns:a="http://schemas.openxmlformats.org/drawingml/2006/main" noGrp="1"/>
          </p:cNvSpPr>
          <p:nvPr/>
        </p:nvSpPr>
        <p:spPr>
          <a:xfrm xmlns:a="http://schemas.openxmlformats.org/drawingml/2006/main">
            <a:off x="609600" y="40005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F3C"/>
                </a:solidFill>
                <a:latin typeface="Helvetica Neue"/>
                <a:ea typeface="Helvetica Neue"/>
                <a:cs typeface="Helvetica Neue"/>
              </a:defRPr>
            </a:pPr>
            <a:r>
              <a:rPr sz="3450" b="1">
                <a:solidFill>
                  <a:srgbClr val="132F3C"/>
                </a:solidFill>
                <a:latin typeface="Helvetica Neue"/>
                <a:ea typeface="Helvetica Neue"/>
                <a:cs typeface="Helvetica Neue"/>
              </a:rPr>
              <a:t>Routed agent vs. single model</a:t>
            </a:r>
          </a:p>
        </p:txBody>
      </p:sp>
      <p:sp>
        <p:nvSpPr>
          <p:cNvPr id="2" name="">
            <a:extLst xmlns:a="http://schemas.openxmlformats.org/drawingml/2006/main">
              <a:ext uri="{FF2B5EF4-FFF2-40B4-BE49-F238E27FC236}">
                <a16:creationId xmlns:a16="http://schemas.microsoft.com/office/drawing/2014/main" id="{E5DAFE24-D256-407D-A568-334C802B3BAD}"/>
              </a:ext>
            </a:extLst>
          </p:cNvPr>
          <p:cNvSpPr>
            <a:spLocks xmlns:a="http://schemas.openxmlformats.org/drawingml/2006/main" noGrp="1"/>
          </p:cNvSpPr>
          <p:nvPr/>
        </p:nvSpPr>
        <p:spPr>
          <a:xfrm xmlns:a="http://schemas.openxmlformats.org/drawingml/2006/main">
            <a:off x="609600" y="1114425"/>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36D"/>
                </a:solidFill>
                <a:latin typeface="Helvetica Neue"/>
                <a:ea typeface="Helvetica Neue"/>
                <a:cs typeface="Helvetica Neue"/>
              </a:defRPr>
            </a:pPr>
            <a:r>
              <a:rPr sz="1875" b="0">
                <a:solidFill>
                  <a:srgbClr val="53636D"/>
                </a:solidFill>
                <a:latin typeface="Helvetica Neue"/>
                <a:ea typeface="Helvetica Neue"/>
                <a:cs typeface="Helvetica Neue"/>
              </a:rPr>
              <a:t>2 development cases • one run each • up to 5 minutes per case</a:t>
            </a:r>
          </a:p>
        </p:txBody>
      </p:sp>
      <p:graphicFrame>
        <p:nvGraphicFramePr>
          <p:cNvPr id="8" name=""/>
          <p:cNvGraphicFramePr/>
          <p:nvPr/>
        </p:nvGraphicFramePr>
        <p:xfrm>
          <a:off xmlns:a="http://schemas.openxmlformats.org/drawingml/2006/main" x="609600" y="1819275"/>
          <a:ext xmlns:a="http://schemas.openxmlformats.org/drawingml/2006/main" cx="10972800" cy="2714625"/>
        </p:xfrm>
        <a:graphic xmlns:a="http://schemas.openxmlformats.org/drawingml/2006/main">
          <a:graphicData uri="http://schemas.openxmlformats.org/drawingml/2006/table">
            <a:tbl>
              <a:tblPr/>
              <a:tblGrid>
                <a:gridCol w="4591050"/>
                <a:gridCol w="3048000"/>
                <a:gridCol w="3333750"/>
              </a:tblGrid>
              <a:tr h="542925">
                <a:tc>
                  <a:txBody>
                    <a:bodyPr/>
                    <a:lstStyle/>
                    <a:p>
                      <a:r>
                        <a:rPr sz="1800" b="1">
                          <a:solidFill>
                            <a:srgbClr val="FFFFFF"/>
                          </a:solidFill>
                          <a:latin typeface="Helvetica Neue"/>
                          <a:ea typeface="Helvetica Neue"/>
                          <a:cs typeface="Helvetica Neue"/>
                        </a:rPr>
                        <a:t>Metric</a:t>
                      </a:r>
                    </a:p>
                  </a:txBody>
                  <a:tcPr marL="91440" marR="91440" marT="45720" marB="45720">
                    <a:solidFill>
                      <a:srgbClr val="132F3C"/>
                    </a:solidFill>
                  </a:tcPr>
                </a:tc>
                <a:tc>
                  <a:txBody>
                    <a:bodyPr/>
                    <a:lstStyle/>
                    <a:p>
                      <a:r>
                        <a:rPr sz="1800" b="1">
                          <a:solidFill>
                            <a:srgbClr val="FFFFFF"/>
                          </a:solidFill>
                          <a:latin typeface="Helvetica Neue"/>
                          <a:ea typeface="Helvetica Neue"/>
                          <a:cs typeface="Helvetica Neue"/>
                        </a:rPr>
                        <a:t>Routed agent</a:t>
                      </a:r>
                    </a:p>
                  </a:txBody>
                  <a:tcPr marL="91440" marR="91440" marT="45720" marB="45720">
                    <a:solidFill>
                      <a:srgbClr val="132F3C"/>
                    </a:solidFill>
                  </a:tcPr>
                </a:tc>
                <a:tc>
                  <a:txBody>
                    <a:bodyPr/>
                    <a:lstStyle/>
                    <a:p>
                      <a:r>
                        <a:rPr sz="1800" b="1">
                          <a:solidFill>
                            <a:srgbClr val="FFFFFF"/>
                          </a:solidFill>
                          <a:latin typeface="Helvetica Neue"/>
                          <a:ea typeface="Helvetica Neue"/>
                          <a:cs typeface="Helvetica Neue"/>
                        </a:rPr>
                        <a:t>Single model (GLM-5.2)</a:t>
                      </a:r>
                    </a:p>
                  </a:txBody>
                  <a:tcPr marL="91440" marR="91440" marT="45720" marB="45720">
                    <a:solidFill>
                      <a:srgbClr val="132F3C"/>
                    </a:solidFill>
                  </a:tcPr>
                </a:tc>
              </a:tr>
              <a:tr h="542925">
                <a:tc>
                  <a:txBody>
                    <a:bodyPr/>
                    <a:lstStyle/>
                    <a:p>
                      <a:r>
                        <a:rPr sz="1800" b="0">
                          <a:solidFill>
                            <a:srgbClr val="132F3C"/>
                          </a:solidFill>
                          <a:latin typeface="Helvetica Neue"/>
                          <a:ea typeface="Helvetica Neue"/>
                          <a:cs typeface="Helvetica Neue"/>
                        </a:rPr>
                        <a:t>Accuracy (strict)</a:t>
                      </a:r>
                    </a:p>
                  </a:txBody>
                  <a:tcPr marL="91440" marR="91440" marT="45720" marB="45720">
                    <a:solidFill>
                      <a:srgbClr val="FFFFFF"/>
                    </a:solidFill>
                  </a:tcPr>
                </a:tc>
                <a:tc>
                  <a:txBody>
                    <a:bodyPr/>
                    <a:lstStyle/>
                    <a:p>
                      <a:r>
                        <a:rPr sz="1800" b="1">
                          <a:solidFill>
                            <a:srgbClr val="087F78"/>
                          </a:solidFill>
                          <a:latin typeface="Helvetica Neue"/>
                          <a:ea typeface="Helvetica Neue"/>
                          <a:cs typeface="Helvetica Neue"/>
                        </a:rPr>
                        <a:t>50%</a:t>
                      </a:r>
                    </a:p>
                  </a:txBody>
                  <a:tcPr marL="91440" marR="91440" marT="45720" marB="45720">
                    <a:solidFill>
                      <a:srgbClr val="FFFFFF"/>
                    </a:solidFill>
                  </a:tcPr>
                </a:tc>
                <a:tc>
                  <a:txBody>
                    <a:bodyPr/>
                    <a:lstStyle/>
                    <a:p>
                      <a:r>
                        <a:rPr sz="1800" b="0">
                          <a:solidFill>
                            <a:srgbClr val="132F3C"/>
                          </a:solidFill>
                          <a:latin typeface="Helvetica Neue"/>
                          <a:ea typeface="Helvetica Neue"/>
                          <a:cs typeface="Helvetica Neue"/>
                        </a:rPr>
                        <a:t>50%</a:t>
                      </a:r>
                    </a:p>
                  </a:txBody>
                  <a:tcPr marL="91440" marR="91440" marT="45720" marB="45720">
                    <a:solidFill>
                      <a:srgbClr val="FFFFFF"/>
                    </a:solidFill>
                  </a:tcPr>
                </a:tc>
              </a:tr>
              <a:tr h="542925">
                <a:tc>
                  <a:txBody>
                    <a:bodyPr/>
                    <a:lstStyle/>
                    <a:p>
                      <a:r>
                        <a:rPr sz="1800" b="0">
                          <a:solidFill>
                            <a:srgbClr val="132F3C"/>
                          </a:solidFill>
                          <a:latin typeface="Helvetica Neue"/>
                          <a:ea typeface="Helvetica Neue"/>
                          <a:cs typeface="Helvetica Neue"/>
                        </a:rPr>
                        <a:t>Accuracy (partial credit)</a:t>
                      </a:r>
                    </a:p>
                  </a:txBody>
                  <a:tcPr marL="91440" marR="91440" marT="45720" marB="45720">
                    <a:solidFill>
                      <a:srgbClr val="EDF2F0"/>
                    </a:solidFill>
                  </a:tcPr>
                </a:tc>
                <a:tc>
                  <a:txBody>
                    <a:bodyPr/>
                    <a:lstStyle/>
                    <a:p>
                      <a:r>
                        <a:rPr sz="1800" b="1">
                          <a:solidFill>
                            <a:srgbClr val="087F78"/>
                          </a:solidFill>
                          <a:latin typeface="Helvetica Neue"/>
                          <a:ea typeface="Helvetica Neue"/>
                          <a:cs typeface="Helvetica Neue"/>
                        </a:rPr>
                        <a:t>75%</a:t>
                      </a:r>
                    </a:p>
                  </a:txBody>
                  <a:tcPr marL="91440" marR="91440" marT="45720" marB="45720">
                    <a:solidFill>
                      <a:srgbClr val="EDF2F0"/>
                    </a:solidFill>
                  </a:tcPr>
                </a:tc>
                <a:tc>
                  <a:txBody>
                    <a:bodyPr/>
                    <a:lstStyle/>
                    <a:p>
                      <a:r>
                        <a:rPr sz="1800" b="0">
                          <a:solidFill>
                            <a:srgbClr val="132F3C"/>
                          </a:solidFill>
                          <a:latin typeface="Helvetica Neue"/>
                          <a:ea typeface="Helvetica Neue"/>
                          <a:cs typeface="Helvetica Neue"/>
                        </a:rPr>
                        <a:t>50%</a:t>
                      </a:r>
                    </a:p>
                  </a:txBody>
                  <a:tcPr marL="91440" marR="91440" marT="45720" marB="45720">
                    <a:solidFill>
                      <a:srgbClr val="EDF2F0"/>
                    </a:solidFill>
                  </a:tcPr>
                </a:tc>
              </a:tr>
              <a:tr h="542925">
                <a:tc>
                  <a:txBody>
                    <a:bodyPr/>
                    <a:lstStyle/>
                    <a:p>
                      <a:r>
                        <a:rPr sz="1800" b="0">
                          <a:solidFill>
                            <a:srgbClr val="132F3C"/>
                          </a:solidFill>
                          <a:latin typeface="Helvetica Neue"/>
                          <a:ea typeface="Helvetica Neue"/>
                          <a:cs typeface="Helvetica Neue"/>
                        </a:rPr>
                        <a:t>Dollars per case</a:t>
                      </a:r>
                    </a:p>
                  </a:txBody>
                  <a:tcPr marL="91440" marR="91440" marT="45720" marB="45720">
                    <a:solidFill>
                      <a:srgbClr val="FFFFFF"/>
                    </a:solidFill>
                  </a:tcPr>
                </a:tc>
                <a:tc>
                  <a:txBody>
                    <a:bodyPr/>
                    <a:lstStyle/>
                    <a:p>
                      <a:r>
                        <a:rPr sz="1800" b="1">
                          <a:solidFill>
                            <a:srgbClr val="087F78"/>
                          </a:solidFill>
                          <a:latin typeface="Helvetica Neue"/>
                          <a:ea typeface="Helvetica Neue"/>
                          <a:cs typeface="Helvetica Neue"/>
                        </a:rPr>
                        <a:t>$0.286</a:t>
                      </a:r>
                    </a:p>
                  </a:txBody>
                  <a:tcPr marL="91440" marR="91440" marT="45720" marB="45720">
                    <a:solidFill>
                      <a:srgbClr val="FFFFFF"/>
                    </a:solidFill>
                  </a:tcPr>
                </a:tc>
                <a:tc>
                  <a:txBody>
                    <a:bodyPr/>
                    <a:lstStyle/>
                    <a:p>
                      <a:r>
                        <a:rPr sz="1800" b="0">
                          <a:solidFill>
                            <a:srgbClr val="132F3C"/>
                          </a:solidFill>
                          <a:latin typeface="Helvetica Neue"/>
                          <a:ea typeface="Helvetica Neue"/>
                          <a:cs typeface="Helvetica Neue"/>
                        </a:rPr>
                        <a:t>$0.204</a:t>
                      </a:r>
                    </a:p>
                  </a:txBody>
                  <a:tcPr marL="91440" marR="91440" marT="45720" marB="45720">
                    <a:solidFill>
                      <a:srgbClr val="FFFFFF"/>
                    </a:solidFill>
                  </a:tcPr>
                </a:tc>
              </a:tr>
              <a:tr h="542925">
                <a:tc>
                  <a:txBody>
                    <a:bodyPr/>
                    <a:lstStyle/>
                    <a:p>
                      <a:r>
                        <a:rPr sz="1800" b="0">
                          <a:solidFill>
                            <a:srgbClr val="132F3C"/>
                          </a:solidFill>
                          <a:latin typeface="Helvetica Neue"/>
                          <a:ea typeface="Helvetica Neue"/>
                          <a:cs typeface="Helvetica Neue"/>
                        </a:rPr>
                        <a:t>Time per case</a:t>
                      </a:r>
                    </a:p>
                  </a:txBody>
                  <a:tcPr marL="91440" marR="91440" marT="45720" marB="45720">
                    <a:solidFill>
                      <a:srgbClr val="EDF2F0"/>
                    </a:solidFill>
                  </a:tcPr>
                </a:tc>
                <a:tc>
                  <a:txBody>
                    <a:bodyPr/>
                    <a:lstStyle/>
                    <a:p>
                      <a:r>
                        <a:rPr sz="1800" b="1">
                          <a:solidFill>
                            <a:srgbClr val="087F78"/>
                          </a:solidFill>
                          <a:latin typeface="Helvetica Neue"/>
                          <a:ea typeface="Helvetica Neue"/>
                          <a:cs typeface="Helvetica Neue"/>
                        </a:rPr>
                        <a:t>147 seconds</a:t>
                      </a:r>
                    </a:p>
                  </a:txBody>
                  <a:tcPr marL="91440" marR="91440" marT="45720" marB="45720">
                    <a:solidFill>
                      <a:srgbClr val="EDF2F0"/>
                    </a:solidFill>
                  </a:tcPr>
                </a:tc>
                <a:tc>
                  <a:txBody>
                    <a:bodyPr/>
                    <a:lstStyle/>
                    <a:p>
                      <a:r>
                        <a:rPr sz="1800" b="0">
                          <a:solidFill>
                            <a:srgbClr val="132F3C"/>
                          </a:solidFill>
                          <a:latin typeface="Helvetica Neue"/>
                          <a:ea typeface="Helvetica Neue"/>
                          <a:cs typeface="Helvetica Neue"/>
                        </a:rPr>
                        <a:t>84 seconds</a:t>
                      </a:r>
                    </a:p>
                  </a:txBody>
                  <a:tcPr marL="91440" marR="91440" marT="45720" marB="45720">
                    <a:solidFill>
                      <a:srgbClr val="EDF2F0"/>
                    </a:solidFill>
                  </a:tcPr>
                </a:tc>
              </a:tr>
            </a:tbl>
          </a:graphicData>
        </a:graphic>
      </p:graphicFrame>
      <p:sp>
        <p:nvSpPr>
          <p:cNvPr id="4" name="">
            <a:extLst xmlns:a="http://schemas.openxmlformats.org/drawingml/2006/main">
              <a:ext uri="{FF2B5EF4-FFF2-40B4-BE49-F238E27FC236}">
                <a16:creationId xmlns:a16="http://schemas.microsoft.com/office/drawing/2014/main" id="{017434A5-6615-4ED8-A21C-DA0049E2489B}"/>
              </a:ext>
            </a:extLst>
          </p:cNvPr>
          <p:cNvSpPr>
            <a:spLocks xmlns:a="http://schemas.openxmlformats.org/drawingml/2006/main" noGrp="1"/>
          </p:cNvSpPr>
          <p:nvPr/>
        </p:nvSpPr>
        <p:spPr>
          <a:xfrm xmlns:a="http://schemas.openxmlformats.org/drawingml/2006/main">
            <a:off x="609600" y="48768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F3C"/>
                </a:solidFill>
                <a:latin typeface="Helvetica Neue"/>
                <a:ea typeface="Helvetica Neue"/>
                <a:cs typeface="Helvetica Neue"/>
              </a:defRPr>
            </a:pPr>
            <a:r>
              <a:rPr sz="2025" b="1">
                <a:solidFill>
                  <a:srgbClr val="132F3C"/>
                </a:solidFill>
                <a:latin typeface="Helvetica Neue"/>
                <a:ea typeface="Helvetica Neue"/>
                <a:cs typeface="Helvetica Neue"/>
              </a:rPr>
              <a:t>The routed agent finished both cases. The single model timed out and used backup answers.</a:t>
            </a:r>
          </a:p>
        </p:txBody>
      </p:sp>
      <p:sp>
        <p:nvSpPr>
          <p:cNvPr id="5" name="">
            <a:extLst xmlns:a="http://schemas.openxmlformats.org/drawingml/2006/main">
              <a:ext uri="{FF2B5EF4-FFF2-40B4-BE49-F238E27FC236}">
                <a16:creationId xmlns:a16="http://schemas.microsoft.com/office/drawing/2014/main" id="{3AD55B17-37B0-4157-AA90-F1195E597D98}"/>
              </a:ext>
            </a:extLst>
          </p:cNvPr>
          <p:cNvSpPr>
            <a:spLocks xmlns:a="http://schemas.openxmlformats.org/drawingml/2006/main" noGrp="1"/>
          </p:cNvSpPr>
          <p:nvPr/>
        </p:nvSpPr>
        <p:spPr>
          <a:xfrm xmlns:a="http://schemas.openxmlformats.org/drawingml/2006/main">
            <a:off x="609600" y="58483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36D"/>
                </a:solidFill>
                <a:latin typeface="Helvetica Neue"/>
                <a:ea typeface="Helvetica Neue"/>
                <a:cs typeface="Helvetica Neue"/>
              </a:defRPr>
            </a:pPr>
            <a:r>
              <a:rPr sz="1725" b="0">
                <a:solidFill>
                  <a:srgbClr val="53636D"/>
                </a:solidFill>
                <a:latin typeface="Helvetica Neue"/>
                <a:ea typeface="Helvetica Neue"/>
                <a:cs typeface="Helvetica Neue"/>
              </a:rPr>
              <a:t>Only two cases tested. Single-model cost and time reflect early stops, not greater efficiency.</a:t>
            </a:r>
          </a:p>
        </p:txBody>
      </p:sp>
    </p:spTree>
    <p:extLst>
      <p:ext uri="{BB962C8B-B14F-4D97-AF65-F5344CB8AC3E}">
        <p14:creationId xmlns:p14="http://schemas.microsoft.com/office/powerpoint/2010/main" val="1308148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2026-09-17T21:47:53.9540000Z</dcterms:created>
  <dcterms:modified xsi:type="dcterms:W3CDTF">2026-09-17T21:47:53.9540000Z</dcterms:modified>
</coreProperties>
</file>